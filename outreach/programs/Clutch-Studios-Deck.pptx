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61520" cy="6858000"/>
  <p:notesSz cx="6858000" cy="1216152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06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645920"/>
            <a:ext cx="5486400" cy="5486400"/>
          </a:xfrm>
          <a:prstGeom prst="ellipse">
            <a:avLst/>
          </a:prstGeom>
          <a:solidFill>
            <a:srgbClr val="22D3EE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686800" y="-2011680"/>
            <a:ext cx="6400800" cy="6400800"/>
          </a:xfrm>
          <a:prstGeom prst="ellipse">
            <a:avLst/>
          </a:prstGeom>
          <a:solidFill>
            <a:srgbClr val="8B3FFF">
              <a:alpha val="13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400800" y="4754880"/>
            <a:ext cx="5486400" cy="5486400"/>
          </a:xfrm>
          <a:prstGeom prst="ellipse">
            <a:avLst/>
          </a:prstGeom>
          <a:solidFill>
            <a:srgbClr val="FF2E97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2344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▲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40080" y="205740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spc="100" kern="0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CLUTCH </a:t>
            </a:r>
            <a:pPr indent="0" marL="0">
              <a:buNone/>
            </a:pPr>
            <a:r>
              <a:rPr lang="en-US" sz="6000" b="1" spc="100" kern="0" dirty="0">
                <a:solidFill>
                  <a:srgbClr val="8B3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STUDIOS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Provably-fair instant games — server-authoritative, and built to certify.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37947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3A0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live games. Three mechanics. One integration. Playable right now.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48920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▶  Play the whole catalogue in 60 seconds  </a:t>
            </a:r>
            <a:pPr indent="0" marL="0">
              <a:buNone/>
            </a:pPr>
            <a:r>
              <a:rPr lang="en-US" sz="1400" b="1" dirty="0">
                <a:solidFill>
                  <a:srgbClr val="F4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clutchstudios.co/play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5989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76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[Founder name] · team@clutchstudios.co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506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0" y="-1828800"/>
            <a:ext cx="5486400" cy="5486400"/>
          </a:xfrm>
          <a:prstGeom prst="ellipse">
            <a:avLst/>
          </a:prstGeom>
          <a:solidFill>
            <a:srgbClr val="8B3FFF">
              <a:alpha val="1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85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WE DO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14300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400" b="1" dirty="0">
                <a:solidFill>
                  <a:srgbClr val="F4F7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Six live games. </a:t>
            </a:r>
            <a:pPr indent="0" marL="0">
              <a:lnSpc>
                <a:spcPct val="102000"/>
              </a:lnSpc>
              <a:buNone/>
            </a:pPr>
            <a:r>
              <a:rPr lang="en-US" sz="44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mechanics. </a:t>
            </a:r>
            <a:pPr indent="0" marL="0">
              <a:lnSpc>
                <a:spcPct val="102000"/>
              </a:lnSpc>
              <a:buNone/>
            </a:pPr>
            <a:r>
              <a:rPr lang="en-US" sz="4400" b="1" dirty="0">
                <a:solidFill>
                  <a:srgbClr val="8B3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integration.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build crash and instant games for the operators your network serves — mobile-first, provably fair, and verifiable every round. All of it runs on one server-authoritative RGS, on one integration, and you can play every title in a browser today.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40080" y="4892040"/>
            <a:ext cx="10881360" cy="1234440"/>
          </a:xfrm>
          <a:prstGeom prst="roundRect">
            <a:avLst>
              <a:gd name="adj" fmla="val 6667"/>
            </a:avLst>
          </a:prstGeom>
          <a:solidFill>
            <a:srgbClr val="12141D"/>
          </a:solidFill>
          <a:ln w="12700">
            <a:solidFill>
              <a:srgbClr val="2A3142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05840" y="50749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93A0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studios pitch a deck and a promise.  </a:t>
            </a:r>
            <a:pPr indent="0" marL="0">
              <a:buNone/>
            </a:pPr>
            <a:r>
              <a:rPr lang="en-US" sz="2200" b="1" i="1" dirty="0">
                <a:solidFill>
                  <a:srgbClr val="FF2E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pitch a link.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05840" y="55778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clutchstudios.co/play  ·  flagship: /zenith  ·  verify fairness: /fairness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506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114800"/>
            <a:ext cx="4572000" cy="4572000"/>
          </a:xfrm>
          <a:prstGeom prst="ellipse">
            <a:avLst/>
          </a:prstGeom>
          <a:solidFill>
            <a:srgbClr val="22D3EE">
              <a:alpha val="1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FLAGSHIP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Zenith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640080" y="196596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shared-round vertical climb. One climber, everyone in the round watches together — altitude is your multiplier, secure it before the fall.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61264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another clone. </a:t>
            </a:r>
            <a:endParaRPr lang="en-US" sz="1400" dirty="0"/>
          </a:p>
          <a:p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93A0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proven, addictive core (shared rising multiplier + one cash-out decision) in a genuinely fresh identity — a 3D neon ascent, not a plane on a curve.</a:t>
            </a:r>
            <a:endParaRPr lang="en-US" sz="1400" dirty="0"/>
          </a:p>
          <a:p>
            <a:pPr marL="177800" indent="-1778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Engineered on evidence. </a:t>
            </a:r>
            <a:endParaRPr lang="en-US" sz="1400" dirty="0"/>
          </a:p>
          <a:p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93A0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Stacks the levers behind Aviator-class stickiness: the shared “now,” a single decision (illusion of control), fast cadence, and clip-ready fall moments.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452360" y="1005840"/>
            <a:ext cx="4069080" cy="5029200"/>
          </a:xfrm>
          <a:prstGeom prst="roundRect">
            <a:avLst>
              <a:gd name="adj" fmla="val 2022"/>
            </a:avLst>
          </a:prstGeom>
          <a:solidFill>
            <a:srgbClr val="0D0F17"/>
          </a:solidFill>
          <a:ln w="12700">
            <a:solidFill>
              <a:srgbClr val="2A3142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52360" y="128016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▲ ZENITH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663940" y="4846320"/>
            <a:ext cx="1645920" cy="502920"/>
          </a:xfrm>
          <a:prstGeom prst="ellipse">
            <a:avLst/>
          </a:prstGeom>
          <a:ln w="31750">
            <a:solidFill>
              <a:srgbClr val="22D3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63940" y="4114800"/>
            <a:ext cx="1645920" cy="502920"/>
          </a:xfrm>
          <a:prstGeom prst="ellipse">
            <a:avLst/>
          </a:prstGeom>
          <a:ln w="31750">
            <a:solidFill>
              <a:srgbClr val="22D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63940" y="3383280"/>
            <a:ext cx="1645920" cy="502920"/>
          </a:xfrm>
          <a:prstGeom prst="ellipse">
            <a:avLst/>
          </a:prstGeom>
          <a:ln w="31750">
            <a:solidFill>
              <a:srgbClr val="8B3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663940" y="2651760"/>
            <a:ext cx="1645920" cy="502920"/>
          </a:xfrm>
          <a:prstGeom prst="ellipse">
            <a:avLst/>
          </a:prstGeom>
          <a:ln w="31750">
            <a:solidFill>
              <a:srgbClr val="FF2E9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230868" y="3429000"/>
            <a:ext cx="512064" cy="512064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4" name="Text 12"/>
          <p:cNvSpPr/>
          <p:nvPr/>
        </p:nvSpPr>
        <p:spPr>
          <a:xfrm>
            <a:off x="9230868" y="3465576"/>
            <a:ext cx="5120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5060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▲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452360" y="1965960"/>
            <a:ext cx="4069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D2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12.40×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7452360" y="54406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93A0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ALTITUDE = MULTIPLIER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506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5029200"/>
            <a:ext cx="4572000" cy="4572000"/>
          </a:xfrm>
          <a:prstGeom prst="ellipse">
            <a:avLst/>
          </a:prstGeom>
          <a:solidFill>
            <a:srgbClr val="FF2E97">
              <a:alpha val="9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CATALOGUE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4F7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Range from one supplier</a:t>
            </a:r>
            <a:endParaRPr lang="en-US" sz="3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011680"/>
          <a:ext cx="108813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589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2D3E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MECHANIC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2A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4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2D3E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TITLES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2A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41D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4F7FF"/>
                          </a:solidFill>
                        </a:rPr>
                        <a:t>Crash</a:t>
                      </a:r>
                      <a:endParaRPr lang="en-US" sz="1700" dirty="0"/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2A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0F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93A0BA"/>
                          </a:solidFill>
                        </a:rPr>
                        <a:t>Ascent  ·  Overdrive (3D turbo car-crash)</a:t>
                      </a:r>
                      <a:endParaRPr lang="en-US" sz="1600" dirty="0"/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2A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0F17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4F7FF"/>
                          </a:solidFill>
                        </a:rPr>
                        <a:t>Step-multiplier climb</a:t>
                      </a:r>
                      <a:endParaRPr lang="en-US" sz="1700" dirty="0"/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2A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0F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93A0BA"/>
                          </a:solidFill>
                        </a:rPr>
                        <a:t>Zenith  (flagship)  ·  Ascent Cross  ·  Redline</a:t>
                      </a:r>
                      <a:endParaRPr lang="en-US" sz="1600" dirty="0"/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2A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0F17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4F7FF"/>
                          </a:solidFill>
                        </a:rPr>
                        <a:t>Mines</a:t>
                      </a:r>
                      <a:endParaRPr lang="en-US" sz="1700" dirty="0"/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2A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0F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93A0BA"/>
                          </a:solidFill>
                        </a:rPr>
                        <a:t>Vault  (25-tile, player-set volatility)</a:t>
                      </a:r>
                      <a:endParaRPr lang="en-US" sz="1600" dirty="0"/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2A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0F17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715000"/>
            <a:ext cx="10881360" cy="685800"/>
          </a:xfrm>
          <a:prstGeom prst="roundRect">
            <a:avLst>
              <a:gd name="adj" fmla="val 12000"/>
            </a:avLst>
          </a:prstGeom>
          <a:solidFill>
            <a:srgbClr val="12141D"/>
          </a:solidFill>
          <a:ln w="12700">
            <a:solidFill>
              <a:srgbClr val="2A3142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1005840" y="5870448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onboarding, three player audiences.  </a:t>
            </a:r>
            <a:pPr indent="0" marL="0">
              <a:buNone/>
            </a:pPr>
            <a:r>
              <a:rPr lang="en-US" sz="1500" dirty="0">
                <a:solidFill>
                  <a:srgbClr val="93A0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the next title is a config change, not a new integration.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506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22D3EE">
              <a:alpha val="1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TECHNOLOGY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7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production, server-authoritative RGS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457200" cy="457200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5060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25880" y="1911096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F7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Server-authoritative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25880" y="2276856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93A0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Outcomes, balances and timing all decided server-side — the client is a thin renderer. The #1 certification requirement.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017520"/>
            <a:ext cx="457200" cy="457200"/>
          </a:xfrm>
          <a:prstGeom prst="ellipse">
            <a:avLst/>
          </a:prstGeom>
          <a:solidFill>
            <a:srgbClr val="8B3FFF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5060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25880" y="2962656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F7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Provably fair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25880" y="3328416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93A0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Pre-committed server-seed hash chain + player entropy + public block-hash (crash); commit-reveal shuffles (mines/climb). Verifiable every round.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4069080"/>
            <a:ext cx="457200" cy="457200"/>
          </a:xfrm>
          <a:prstGeom prst="ellipse">
            <a:avLst/>
          </a:prstGeom>
          <a:solidFill>
            <a:srgbClr val="FF2E97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069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5060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25880" y="4014216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F7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Seamless wallet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25880" y="4379976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93A0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Idempotent debit / credit / rollback by txId, integer minor units, auto-reconciliation. A per-aggregator adapter maps to your wallet API.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5120640"/>
            <a:ext cx="457200" cy="457200"/>
          </a:xfrm>
          <a:prstGeom prst="ellipse">
            <a:avLst/>
          </a:prstGeom>
          <a:solidFill>
            <a:srgbClr val="FFD23F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5120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5060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325880" y="5065776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F7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Built to certify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325880" y="5431536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93A0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replay, append-only audit logs, an RTP harness. The GLI-19 technical pack is largely in place.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506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828800"/>
            <a:ext cx="6400800" cy="6400800"/>
          </a:xfrm>
          <a:prstGeom prst="ellipse">
            <a:avLst/>
          </a:prstGeom>
          <a:solidFill>
            <a:srgbClr val="8B3FFF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14400" y="5029200"/>
            <a:ext cx="4572000" cy="4572000"/>
          </a:xfrm>
          <a:prstGeom prst="ellipse">
            <a:avLst/>
          </a:prstGeom>
          <a:solidFill>
            <a:srgbClr val="22D3EE">
              <a:alpha val="9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85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NOW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23444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2E9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121</a:t>
            </a:r>
            <a:pPr indent="0" marL="0">
              <a:buNone/>
            </a:pPr>
            <a:r>
              <a:rPr lang="en-US" sz="5200" b="1" dirty="0">
                <a:solidFill>
                  <a:srgbClr val="93A0B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of </a:t>
            </a:r>
            <a:pPr indent="0" marL="0">
              <a:buNone/>
            </a:pPr>
            <a:r>
              <a:rPr lang="en-US" sz="5200" b="1" dirty="0">
                <a:solidFill>
                  <a:srgbClr val="F4F7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378</a:t>
            </a:r>
            <a:pPr indent="0" marL="0">
              <a:buNone/>
            </a:pPr>
            <a:r>
              <a:rPr lang="en-US" sz="5200" b="1" dirty="0">
                <a:solidFill>
                  <a:srgbClr val="93A0B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crash titles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640080" y="24231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launched in 2025 alone. The category is saturated with reskins — so a plain clone is a dead end.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40080" y="3703320"/>
            <a:ext cx="10881360" cy="2194560"/>
          </a:xfrm>
          <a:prstGeom prst="roundRect">
            <a:avLst>
              <a:gd name="adj" fmla="val 3750"/>
            </a:avLst>
          </a:prstGeom>
          <a:solidFill>
            <a:srgbClr val="12141D"/>
          </a:solidFill>
          <a:ln w="12700">
            <a:solidFill>
              <a:srgbClr val="2A3142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05840" y="3931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Our edge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05840" y="4343400"/>
            <a:ext cx="10149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differentiated flagship, not a reskin — Zenith gives players a fresh experience on a proven core.</a:t>
            </a:r>
            <a:endParaRPr lang="en-US" sz="1450" dirty="0"/>
          </a:p>
          <a:p>
            <a:pPr marL="177800" indent="-1778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Provably fair is a real, marketed feature for crypto-forward operators — the segment most open to new studios. We're built for it natively.</a:t>
            </a:r>
            <a:endParaRPr lang="en-US" sz="1450" dirty="0"/>
          </a:p>
          <a:p>
            <a:pPr marL="177800" indent="-1778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Aviator won on craft, not a novel mechanic. Our bet is the same: out-craft a proven core with an original identity.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506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828800"/>
            <a:ext cx="5486400" cy="5486400"/>
          </a:xfrm>
          <a:prstGeom prst="ellipse">
            <a:avLst/>
          </a:prstGeom>
          <a:solidFill>
            <a:srgbClr val="22D3EE">
              <a:alpha val="1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85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TEAM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1430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4F7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Small, technical, shipping.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10881360" cy="3108960"/>
          </a:xfrm>
          <a:prstGeom prst="roundRect">
            <a:avLst>
              <a:gd name="adj" fmla="val 2647"/>
            </a:avLst>
          </a:prstGeom>
          <a:solidFill>
            <a:srgbClr val="12141D"/>
          </a:solidFill>
          <a:ln w="12700">
            <a:solidFill>
              <a:srgbClr val="2A3142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97280" y="2606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[Founder name] — Founder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97280" y="315468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i="1" dirty="0">
                <a:solidFill>
                  <a:srgbClr val="93A0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[One honest line about who you are and any real, verifiable background. If you're solo and new, say so plainly — e.g. “Independent founder; designed and built the RGS and all six games.” A true, modest line beats an inflated résumé.]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" y="4800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76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Replace this slide's bracketed text before sending. Do not invent a team or credentials.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506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HONEST STATUS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7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What's real, and what's next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5257800" cy="3108960"/>
          </a:xfrm>
          <a:prstGeom prst="roundRect">
            <a:avLst>
              <a:gd name="adj" fmla="val 2647"/>
            </a:avLst>
          </a:prstGeom>
          <a:solidFill>
            <a:srgbClr val="12141D"/>
          </a:solidFill>
          <a:ln w="12700">
            <a:solidFill>
              <a:srgbClr val="2A3142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224028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B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BUILT &amp; PLAYABLE TODAY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05840" y="2697480"/>
            <a:ext cx="4617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server-authoritative, provably-fair RGS</a:t>
            </a:r>
            <a:endParaRPr lang="en-US" sz="150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live games across three mechanics</a:t>
            </a:r>
            <a:endParaRPr lang="en-US" sz="150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differentiated flagship (Zenith)</a:t>
            </a:r>
            <a:endParaRPr lang="en-US" sz="150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Seamless-wallet contract + RTP harness</a:t>
            </a:r>
            <a:endParaRPr lang="en-US" sz="150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replay + audit logs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63640" y="2011680"/>
            <a:ext cx="5257800" cy="3108960"/>
          </a:xfrm>
          <a:prstGeom prst="roundRect">
            <a:avLst>
              <a:gd name="adj" fmla="val 2647"/>
            </a:avLst>
          </a:prstGeom>
          <a:solidFill>
            <a:srgbClr val="12141D"/>
          </a:solidFill>
          <a:ln w="12700">
            <a:solidFill>
              <a:srgbClr val="2A3142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629400" y="224028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D2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PROGRESS BEFORE GO-LIVE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629400" y="2697480"/>
            <a:ext cx="4617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Accredited-lab certification (GLI / iTech)</a:t>
            </a:r>
            <a:endParaRPr lang="en-US" sz="150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supplier licensing</a:t>
            </a:r>
            <a:endParaRPr lang="en-US" sz="150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persistence (Postgres audit)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5349240"/>
            <a:ext cx="10881360" cy="960120"/>
          </a:xfrm>
          <a:prstGeom prst="roundRect">
            <a:avLst>
              <a:gd name="adj" fmla="val 8571"/>
            </a:avLst>
          </a:prstGeom>
          <a:solidFill>
            <a:srgbClr val="0D0F17"/>
          </a:solidFill>
          <a:ln w="12700">
            <a:solidFill>
              <a:srgbClr val="2A3142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005840" y="559612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which is exactly why we're applying to your program. 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93A0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bring the games and the tech; you bring the certified platform and distribution.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506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8B3FFF">
              <a:alpha val="11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01200" y="4572000"/>
            <a:ext cx="4572000" cy="4572000"/>
          </a:xfrm>
          <a:prstGeom prst="ellipse">
            <a:avLst/>
          </a:prstGeom>
          <a:solidFill>
            <a:srgbClr val="22D3EE">
              <a:alpha val="9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85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ASK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1430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4F7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Accept Clutch into your studio program.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40080" y="22402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93A0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launch Zenith as the flagship, followed by the catalogue, on your RGS and operator network. Standard revenue-share, founding-partner terms.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3337560"/>
            <a:ext cx="5257800" cy="2468880"/>
          </a:xfrm>
          <a:prstGeom prst="roundRect">
            <a:avLst>
              <a:gd name="adj" fmla="val 3333"/>
            </a:avLst>
          </a:prstGeom>
          <a:solidFill>
            <a:srgbClr val="12141D"/>
          </a:solidFill>
          <a:ln w="12700">
            <a:solidFill>
              <a:srgbClr val="2A3142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05840" y="3566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 BRING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05840" y="4023360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differentiated, playable flagship</a:t>
            </a:r>
            <a:endParaRPr lang="en-US" sz="150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games on one integration</a:t>
            </a:r>
            <a:endParaRPr lang="en-US" sz="150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built-to-certify, provably-fair RGS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63640" y="3337560"/>
            <a:ext cx="5257800" cy="2468880"/>
          </a:xfrm>
          <a:prstGeom prst="roundRect">
            <a:avLst>
              <a:gd name="adj" fmla="val 3333"/>
            </a:avLst>
          </a:prstGeom>
          <a:solidFill>
            <a:srgbClr val="12141D"/>
          </a:solidFill>
          <a:ln w="12700">
            <a:solidFill>
              <a:srgbClr val="2A3142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629400" y="3566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3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 BRING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629400" y="4023360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certified platform / RGS</a:t>
            </a:r>
            <a:endParaRPr lang="en-US" sz="150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to your operator network</a:t>
            </a:r>
            <a:endParaRPr lang="en-US" sz="150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+ go-to-market support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6080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3A0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30-minute call + a sandbox is all we need to align scope and timeline.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506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645920"/>
            <a:ext cx="5486400" cy="5486400"/>
          </a:xfrm>
          <a:prstGeom prst="ellipse">
            <a:avLst/>
          </a:prstGeom>
          <a:solidFill>
            <a:srgbClr val="22D3EE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686800" y="4114800"/>
            <a:ext cx="6400800" cy="6400800"/>
          </a:xfrm>
          <a:prstGeom prst="ellipse">
            <a:avLst/>
          </a:prstGeom>
          <a:solidFill>
            <a:srgbClr val="8B3FFF">
              <a:alpha val="13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0" y="-1828800"/>
            <a:ext cx="4572000" cy="4572000"/>
          </a:xfrm>
          <a:prstGeom prst="ellipse">
            <a:avLst/>
          </a:prstGeom>
          <a:solidFill>
            <a:srgbClr val="FF2E97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73736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4F7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 it now.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640080" y="306324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93A0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six games   </a:t>
            </a:r>
            <a:pPr indent="0" marL="0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clutchstudios.co/play</a:t>
            </a:r>
            <a:endParaRPr lang="en-US" sz="16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93A0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Flagship   </a:t>
            </a:r>
            <a:pPr indent="0" marL="0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clutch-rgs-demo.onrender.com/zenith</a:t>
            </a:r>
            <a:endParaRPr lang="en-US" sz="16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93A0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Verify fairness   </a:t>
            </a:r>
            <a:pPr indent="0" marL="0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/fairness · /fairness/cross · /fairness/vault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CLUTCH </a:t>
            </a:r>
            <a:pPr indent="0" marL="0">
              <a:buNone/>
            </a:pPr>
            <a:r>
              <a:rPr lang="en-US" sz="2000" b="1" dirty="0">
                <a:solidFill>
                  <a:srgbClr val="8B3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STUDIOS</a:t>
            </a:r>
            <a:pPr indent="0" marL="0">
              <a:buNone/>
            </a:pPr>
            <a:r>
              <a:rPr lang="en-US" sz="2000" b="1" dirty="0">
                <a:solidFill>
                  <a:srgbClr val="93A0B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 ·   [Founder name]   ·   team@clutchstudios.co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Clutch Studios — Studio Deck</dc:title>
  <dc:subject>PptxGenJS Presentation</dc:subject>
  <dc:creator>Clutch Studios</dc:creator>
  <cp:lastModifiedBy>Clutch Studios</cp:lastModifiedBy>
  <cp:revision>1</cp:revision>
  <dcterms:created xsi:type="dcterms:W3CDTF">2026-07-04T22:57:58Z</dcterms:created>
  <dcterms:modified xsi:type="dcterms:W3CDTF">2026-07-04T22:57:58Z</dcterms:modified>
</cp:coreProperties>
</file>