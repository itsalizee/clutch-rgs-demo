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486400" cy="5486400"/>
          </a:xfrm>
          <a:prstGeom prst="ellipse">
            <a:avLst/>
          </a:prstGeom>
          <a:solidFill>
            <a:srgbClr val="22D3EE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2011680"/>
            <a:ext cx="6400800" cy="6400800"/>
          </a:xfrm>
          <a:prstGeom prst="ellipse">
            <a:avLst/>
          </a:prstGeom>
          <a:solidFill>
            <a:srgbClr val="8B3FFF">
              <a:alpha val="1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4754880"/>
            <a:ext cx="5486400" cy="5486400"/>
          </a:xfrm>
          <a:prstGeom prst="ellipse">
            <a:avLst/>
          </a:prstGeom>
          <a:solidFill>
            <a:srgbClr val="FF2E97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▲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1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CLUTCH </a:t>
            </a:r>
            <a:pPr indent="0" marL="0">
              <a:buNone/>
            </a:pPr>
            <a:r>
              <a:rPr lang="en-US" sz="6000" b="1" spc="100" kern="0" dirty="0">
                <a:solidFill>
                  <a:srgbClr val="8B3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STUDIOS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Provably-fair instant games — server-authoritative, and built to certify.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A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live games. Seven mechanics. One integration. Playable right now.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8920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Play the whole catalogue in 60 seconds  </a:t>
            </a:r>
            <a:pPr indent="0" marL="0">
              <a:buNone/>
            </a:pPr>
            <a:r>
              <a:rPr lang="en-US" sz="1400" b="1" dirty="0">
                <a:solidFill>
                  <a:srgbClr val="F4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clutchstudios.co/play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 Z · partnership@clutchstudios.co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8B3FFF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4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 live games. </a:t>
            </a:r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Seven mechanics. </a:t>
            </a:r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8B3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integration.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crash and instant games for the operators your network serves — mobile-first, provably fair, and verifiable every round. All of it runs on one server-authoritative RGS, on one integration, and you can play every title in a browser today.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489204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12141D"/>
          </a:solidFill>
          <a:ln w="12700">
            <a:solidFill>
              <a:srgbClr val="2A314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3A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studios pitch a deck and a promise.  </a:t>
            </a:r>
            <a:pPr indent="0" marL="0">
              <a:buNone/>
            </a:pPr>
            <a:r>
              <a:rPr lang="en-US" sz="2200" b="1" i="1" dirty="0">
                <a:solidFill>
                  <a:srgbClr val="FF2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pitch a link.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clutchstudios.co/play  ·  flagship: /zenith  ·  verify fairness: /fairness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FLAGSHIP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Zenith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shared-round vertical climb. One climber, everyone in the round watches together — altitude is your multiplier, secure it before the fall.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6126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clone. 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93A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proven, addictive core (shared rising multiplier + one cash-out decision) in a genuinely fresh identity — a 3D neon ascent, not a plane on a curve.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on evidence. 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93A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the levers behind Aviator-class stickiness: the shared “now,” a single decision (illusion of control), fast cadence, and clip-ready fall moments.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52360" y="1005840"/>
            <a:ext cx="4069080" cy="5029200"/>
          </a:xfrm>
          <a:prstGeom prst="roundRect">
            <a:avLst>
              <a:gd name="adj" fmla="val 2022"/>
            </a:avLst>
          </a:prstGeom>
          <a:solidFill>
            <a:srgbClr val="0D0F17"/>
          </a:solidFill>
          <a:ln w="12700">
            <a:solidFill>
              <a:srgbClr val="2A314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52360" y="12801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▲ ZENITH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63940" y="4846320"/>
            <a:ext cx="1645920" cy="502920"/>
          </a:xfrm>
          <a:prstGeom prst="ellipse">
            <a:avLst/>
          </a:prstGeom>
          <a:ln w="3175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3940" y="4114800"/>
            <a:ext cx="1645920" cy="502920"/>
          </a:xfrm>
          <a:prstGeom prst="ellipse">
            <a:avLst/>
          </a:prstGeom>
          <a:ln w="3175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63940" y="3383280"/>
            <a:ext cx="1645920" cy="502920"/>
          </a:xfrm>
          <a:prstGeom prst="ellipse">
            <a:avLst/>
          </a:prstGeom>
          <a:ln w="31750">
            <a:solidFill>
              <a:srgbClr val="8B3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63940" y="2651760"/>
            <a:ext cx="1645920" cy="502920"/>
          </a:xfrm>
          <a:prstGeom prst="ellipse">
            <a:avLst/>
          </a:prstGeom>
          <a:ln w="31750">
            <a:solidFill>
              <a:srgbClr val="FF2E9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30868" y="3429000"/>
            <a:ext cx="512064" cy="5120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9230868" y="3465576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6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▲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52360" y="196596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12.40×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7452360" y="54406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3A0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ALTITUDE = MULTIPLIER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5029200"/>
            <a:ext cx="4572000" cy="4572000"/>
          </a:xfrm>
          <a:prstGeom prst="ellipse">
            <a:avLst/>
          </a:prstGeom>
          <a:solidFill>
            <a:srgbClr val="FF2E97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CATALOGUE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Range from one supplier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772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MECHANIC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TITLES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7FF"/>
                          </a:solidFill>
                        </a:rPr>
                        <a:t>Shared-round climb</a:t>
                      </a:r>
                      <a:endParaRPr lang="en-US" sz="14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0BA"/>
                          </a:solidFill>
                        </a:rPr>
                        <a:t>Zenith  (flagship — one climber, the whole round watches)</a:t>
                      </a:r>
                      <a:endParaRPr lang="en-US" sz="13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7FF"/>
                          </a:solidFill>
                        </a:rPr>
                        <a:t>Crash</a:t>
                      </a:r>
                      <a:endParaRPr lang="en-US" sz="14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0BA"/>
                          </a:solidFill>
                        </a:rPr>
                        <a:t>Ascent  (multiplayer, Moon Pool)  ·  Overdrive (3D turbo car-crash)</a:t>
                      </a:r>
                      <a:endParaRPr lang="en-US" sz="13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7FF"/>
                          </a:solidFill>
                        </a:rPr>
                        <a:t>Step-multiplier</a:t>
                      </a:r>
                      <a:endParaRPr lang="en-US" sz="14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0BA"/>
                          </a:solidFill>
                        </a:rPr>
                        <a:t>Ascent Cross  (climb platform by platform, one hidden lane)</a:t>
                      </a:r>
                      <a:endParaRPr lang="en-US" sz="13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7FF"/>
                          </a:solidFill>
                        </a:rPr>
                        <a:t>Mines</a:t>
                      </a:r>
                      <a:endParaRPr lang="en-US" sz="14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0BA"/>
                          </a:solidFill>
                        </a:rPr>
                        <a:t>Vault  (25-tile grid, player-set volatility)</a:t>
                      </a:r>
                      <a:endParaRPr lang="en-US" sz="13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7FF"/>
                          </a:solidFill>
                        </a:rPr>
                        <a:t>Plinko</a:t>
                      </a:r>
                      <a:endParaRPr lang="en-US" sz="14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0BA"/>
                          </a:solidFill>
                        </a:rPr>
                        <a:t>Prism  (pick your risk &amp; rows, up to 1000×)</a:t>
                      </a:r>
                      <a:endParaRPr lang="en-US" sz="13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7FF"/>
                          </a:solidFill>
                        </a:rPr>
                        <a:t>Originals</a:t>
                      </a:r>
                      <a:endParaRPr lang="en-US" sz="14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0BA"/>
                          </a:solidFill>
                        </a:rPr>
                        <a:t>Dice  ·  Limbo  ·  Wheel  (instant one-tap classics)</a:t>
                      </a:r>
                      <a:endParaRPr lang="en-US" sz="13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7FF"/>
                          </a:solidFill>
                        </a:rPr>
                        <a:t>Slots</a:t>
                      </a:r>
                      <a:endParaRPr lang="en-US" sz="14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0BA"/>
                          </a:solidFill>
                        </a:rPr>
                        <a:t>Fortune Reels  (3-reel, wilds, jackpot line)</a:t>
                      </a:r>
                      <a:endParaRPr lang="en-US" sz="13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F1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6035040"/>
            <a:ext cx="10881360" cy="640080"/>
          </a:xfrm>
          <a:prstGeom prst="roundRect">
            <a:avLst>
              <a:gd name="adj" fmla="val 12857"/>
            </a:avLst>
          </a:prstGeom>
          <a:solidFill>
            <a:srgbClr val="12141D"/>
          </a:solidFill>
          <a:ln w="12700">
            <a:solidFill>
              <a:srgbClr val="2A314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840" y="6172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onboarding, several player audiences.  </a:t>
            </a:r>
            <a:pPr indent="0" marL="0">
              <a:buNone/>
            </a:pPr>
            <a:r>
              <a:rPr lang="en-US" sz="1500" dirty="0">
                <a:solidFill>
                  <a:srgbClr val="93A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the next title is a config change, not a new integration.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TECHNOLOGY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production, server-authoritative RGS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6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1109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Server-authoritative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276856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3A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Outcomes, balances and timing all decided server-side — the client is a thin renderer. The #1 certification requirement.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8B3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6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96265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Provably fair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328416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3A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Pre-committed server-seed hash chain + player entropy + public block-hash (crash); commit-reveal shuffles (mines/climb). Verifiable every round.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FF2E9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6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01421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Seamless wallet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4379976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3A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debit / credit / rollback by txId, integer minor units, auto-reconciliation. A per-aggregator adapter maps to your wallet API.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6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506577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to certify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5880" y="5431536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3A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replay, append-only audit logs, an RTP harness. The GLI-19 technical pack is largely in place.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8B3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5029200"/>
            <a:ext cx="4572000" cy="4572000"/>
          </a:xfrm>
          <a:prstGeom prst="ellipse">
            <a:avLst/>
          </a:prstGeom>
          <a:solidFill>
            <a:srgbClr val="22D3EE">
              <a:alpha val="9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NOW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2E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121</a:t>
            </a:r>
            <a:pPr indent="0" marL="0">
              <a:buNone/>
            </a:pPr>
            <a:r>
              <a:rPr lang="en-US" sz="5200" b="1" dirty="0">
                <a:solidFill>
                  <a:srgbClr val="93A0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of </a:t>
            </a:r>
            <a:pPr indent="0" marL="0">
              <a:buNone/>
            </a:pPr>
            <a:r>
              <a:rPr lang="en-US" sz="5200" b="1" dirty="0">
                <a:solidFill>
                  <a:srgbClr val="F4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378</a:t>
            </a:r>
            <a:pPr indent="0" marL="0">
              <a:buNone/>
            </a:pPr>
            <a:r>
              <a:rPr lang="en-US" sz="5200" b="1" dirty="0">
                <a:solidFill>
                  <a:srgbClr val="93A0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crash titles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in 2025 alone. The category is saturated with reskins — so a plain clone is a dead end.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10881360" cy="2194560"/>
          </a:xfrm>
          <a:prstGeom prst="roundRect">
            <a:avLst>
              <a:gd name="adj" fmla="val 3750"/>
            </a:avLst>
          </a:prstGeom>
          <a:solidFill>
            <a:srgbClr val="12141D"/>
          </a:solidFill>
          <a:ln w="12700">
            <a:solidFill>
              <a:srgbClr val="2A314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3931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edge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4343400"/>
            <a:ext cx="10149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differentiated flagship, not a reskin — Zenith gives players a fresh experience on a proven core.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Provably fair is a real, marketed feature for crypto-forward operators — the segment most open to new studios. We're built for it natively.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Aviator won on craft, not a novel mechanic. Our bet is the same: out-craft a proven core with an original identity.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828800"/>
            <a:ext cx="5486400" cy="54864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Small, technical, shipping.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3108960"/>
          </a:xfrm>
          <a:prstGeom prst="roundRect">
            <a:avLst>
              <a:gd name="adj" fmla="val 2647"/>
            </a:avLst>
          </a:prstGeom>
          <a:solidFill>
            <a:srgbClr val="12141D"/>
          </a:solidFill>
          <a:ln w="12700">
            <a:solidFill>
              <a:srgbClr val="2A314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606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 Z — Founder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31546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93A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founder. I designed and built the RGS and all ten games. We're a new studio, and I'd rather say that plainly than inflate a résumé.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4800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product and the fairness math are the credentials — play it, then verify it.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HONEST 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real, and what's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57800" cy="3108960"/>
          </a:xfrm>
          <a:prstGeom prst="roundRect">
            <a:avLst>
              <a:gd name="adj" fmla="val 2647"/>
            </a:avLst>
          </a:prstGeom>
          <a:solidFill>
            <a:srgbClr val="12141D"/>
          </a:solidFill>
          <a:ln w="12700">
            <a:solidFill>
              <a:srgbClr val="2A314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2402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&amp; PLAYABLE TODAY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697480"/>
            <a:ext cx="4617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server-authoritative, provably-fair RGS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live games across seven mechanics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differentiated flagship (Zenith)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Seamless-wallet contract + RTP harness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replay + audit logs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2011680"/>
            <a:ext cx="5257800" cy="3108960"/>
          </a:xfrm>
          <a:prstGeom prst="roundRect">
            <a:avLst>
              <a:gd name="adj" fmla="val 2647"/>
            </a:avLst>
          </a:prstGeom>
          <a:solidFill>
            <a:srgbClr val="12141D"/>
          </a:solidFill>
          <a:ln w="12700">
            <a:solidFill>
              <a:srgbClr val="2A314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22402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PROGRESS BEFORE GO-LIVE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29400" y="2697480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Accredited-lab certification (GLI / iTech)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supplier licensing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persistence (Postgres audit)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5349240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0D0F17"/>
          </a:solidFill>
          <a:ln w="12700">
            <a:solidFill>
              <a:srgbClr val="2A314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559612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which is exactly why we're applying to your program.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3A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bring the games and the tech; you bring the certified platform and distribution.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8B3FFF">
              <a:alpha val="1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572000"/>
            <a:ext cx="4572000" cy="4572000"/>
          </a:xfrm>
          <a:prstGeom prst="ellipse">
            <a:avLst/>
          </a:prstGeom>
          <a:solidFill>
            <a:srgbClr val="22D3EE">
              <a:alpha val="9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 Clutch into your studio program.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93A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launch Zenith as the flagship, followed by the catalogue, on your RGS and operator network. Standard revenue-share, founding-partner terms.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5257800" cy="2468880"/>
          </a:xfrm>
          <a:prstGeom prst="roundRect">
            <a:avLst>
              <a:gd name="adj" fmla="val 3333"/>
            </a:avLst>
          </a:prstGeom>
          <a:solidFill>
            <a:srgbClr val="12141D"/>
          </a:solidFill>
          <a:ln w="12700">
            <a:solidFill>
              <a:srgbClr val="2A314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BRING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402336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differentiated, playable flagship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games on one integration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built-to-certify, provably-fair RGS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3337560"/>
            <a:ext cx="5257800" cy="2468880"/>
          </a:xfrm>
          <a:prstGeom prst="roundRect">
            <a:avLst>
              <a:gd name="adj" fmla="val 3333"/>
            </a:avLst>
          </a:prstGeom>
          <a:solidFill>
            <a:srgbClr val="12141D"/>
          </a:solidFill>
          <a:ln w="12700">
            <a:solidFill>
              <a:srgbClr val="2A314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3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BRING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402336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certified platform / RGS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to your operator network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+ go-to-market support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3A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30-minute call + a sandbox is all we need to align scope and timeline.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486400" cy="5486400"/>
          </a:xfrm>
          <a:prstGeom prst="ellipse">
            <a:avLst/>
          </a:prstGeom>
          <a:solidFill>
            <a:srgbClr val="22D3EE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114800"/>
            <a:ext cx="6400800" cy="6400800"/>
          </a:xfrm>
          <a:prstGeom prst="ellipse">
            <a:avLst/>
          </a:prstGeom>
          <a:solidFill>
            <a:srgbClr val="8B3FFF">
              <a:alpha val="1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-1828800"/>
            <a:ext cx="4572000" cy="4572000"/>
          </a:xfrm>
          <a:prstGeom prst="ellipse">
            <a:avLst/>
          </a:prstGeom>
          <a:solidFill>
            <a:srgbClr val="FF2E97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4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 it now.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3A0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ten games   </a:t>
            </a:r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clutchstudios.co/play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3A0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Flagship   </a:t>
            </a:r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clutch-rgs-demo.onrender.com/zenith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3A0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 fairness   </a:t>
            </a:r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/fairness · /fairness/cross · /fairness/vault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CLUTCH </a:t>
            </a:r>
            <a:pPr indent="0" marL="0">
              <a:buNone/>
            </a:pPr>
            <a:r>
              <a:rPr lang="en-US" sz="2000" b="1" dirty="0">
                <a:solidFill>
                  <a:srgbClr val="8B3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STUDIOS</a:t>
            </a:r>
            <a:pPr indent="0" marL="0">
              <a:buNone/>
            </a:pPr>
            <a:r>
              <a:rPr lang="en-US" sz="2000" b="1" dirty="0">
                <a:solidFill>
                  <a:srgbClr val="93A0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Ali Z   ·   partnership@clutchstudios.co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Clutch Studios — Studio Deck</dc:title>
  <dc:subject>PptxGenJS Presentation</dc:subject>
  <dc:creator>Clutch Studios</dc:creator>
  <cp:lastModifiedBy>Clutch Studios</cp:lastModifiedBy>
  <cp:revision>1</cp:revision>
  <dcterms:created xsi:type="dcterms:W3CDTF">2026-08-27T01:43:20Z</dcterms:created>
  <dcterms:modified xsi:type="dcterms:W3CDTF">2026-08-27T01:43:20Z</dcterms:modified>
</cp:coreProperties>
</file>